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142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4" name="Shape 34"/>
          <p:cNvSpPr>
            <a:spLocks noGrp="1" noRot="1" noChangeAspect="1"/>
          </p:cNvSpPr>
          <p:nvPr>
            <p:ph type="sldImg"/>
          </p:nvPr>
        </p:nvSpPr>
        <p:spPr>
          <a:xfrm>
            <a:off x="1143000" y="685800"/>
            <a:ext cx="4572000" cy="3429000"/>
          </a:xfrm>
          <a:prstGeom prst="rect">
            <a:avLst/>
          </a:prstGeom>
        </p:spPr>
        <p:txBody>
          <a:bodyPr/>
          <a:lstStyle/>
          <a:p>
            <a:endParaRPr/>
          </a:p>
        </p:txBody>
      </p:sp>
      <p:sp>
        <p:nvSpPr>
          <p:cNvPr id="35" name="Shape 35"/>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Arial"/>
      </a:defRPr>
    </a:lvl1pPr>
    <a:lvl2pPr indent="228600" latinLnBrk="0">
      <a:defRPr sz="1400">
        <a:latin typeface="+mn-lt"/>
        <a:ea typeface="+mn-ea"/>
        <a:cs typeface="+mn-cs"/>
        <a:sym typeface="Arial"/>
      </a:defRPr>
    </a:lvl2pPr>
    <a:lvl3pPr indent="457200" latinLnBrk="0">
      <a:defRPr sz="1400">
        <a:latin typeface="+mn-lt"/>
        <a:ea typeface="+mn-ea"/>
        <a:cs typeface="+mn-cs"/>
        <a:sym typeface="Arial"/>
      </a:defRPr>
    </a:lvl3pPr>
    <a:lvl4pPr indent="685800" latinLnBrk="0">
      <a:defRPr sz="1400">
        <a:latin typeface="+mn-lt"/>
        <a:ea typeface="+mn-ea"/>
        <a:cs typeface="+mn-cs"/>
        <a:sym typeface="Arial"/>
      </a:defRPr>
    </a:lvl4pPr>
    <a:lvl5pPr indent="914400" latinLnBrk="0">
      <a:defRPr sz="1400">
        <a:latin typeface="+mn-lt"/>
        <a:ea typeface="+mn-ea"/>
        <a:cs typeface="+mn-cs"/>
        <a:sym typeface="Arial"/>
      </a:defRPr>
    </a:lvl5pPr>
    <a:lvl6pPr indent="1143000" latinLnBrk="0">
      <a:defRPr sz="1400">
        <a:latin typeface="+mn-lt"/>
        <a:ea typeface="+mn-ea"/>
        <a:cs typeface="+mn-cs"/>
        <a:sym typeface="Arial"/>
      </a:defRPr>
    </a:lvl6pPr>
    <a:lvl7pPr indent="1371600" latinLnBrk="0">
      <a:defRPr sz="1400">
        <a:latin typeface="+mn-lt"/>
        <a:ea typeface="+mn-ea"/>
        <a:cs typeface="+mn-cs"/>
        <a:sym typeface="Arial"/>
      </a:defRPr>
    </a:lvl7pPr>
    <a:lvl8pPr indent="1600200" latinLnBrk="0">
      <a:defRPr sz="1400">
        <a:latin typeface="+mn-lt"/>
        <a:ea typeface="+mn-ea"/>
        <a:cs typeface="+mn-cs"/>
        <a:sym typeface="Arial"/>
      </a:defRPr>
    </a:lvl8pPr>
    <a:lvl9pPr indent="1828800" latinLnBrk="0">
      <a:defRPr sz="1400">
        <a:latin typeface="+mn-lt"/>
        <a:ea typeface="+mn-ea"/>
        <a:cs typeface="+mn-cs"/>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OBJECT">
    <p:spTree>
      <p:nvGrpSpPr>
        <p:cNvPr id="1" name=""/>
        <p:cNvGrpSpPr/>
        <p:nvPr/>
      </p:nvGrpSpPr>
      <p:grpSpPr>
        <a:xfrm>
          <a:off x="0" y="0"/>
          <a:ext cx="0" cy="0"/>
          <a:chOff x="0" y="0"/>
          <a:chExt cx="0" cy="0"/>
        </a:xfrm>
      </p:grpSpPr>
      <p:sp>
        <p:nvSpPr>
          <p:cNvPr id="26" name="Title Text"/>
          <p:cNvSpPr txBox="1">
            <a:spLocks noGrp="1"/>
          </p:cNvSpPr>
          <p:nvPr>
            <p:ph type="title"/>
          </p:nvPr>
        </p:nvSpPr>
        <p:spPr>
          <a:prstGeom prst="rect">
            <a:avLst/>
          </a:prstGeom>
        </p:spPr>
        <p:txBody>
          <a:bodyPr/>
          <a:lstStyle/>
          <a:p>
            <a:r>
              <a:t>Title Text</a:t>
            </a:r>
          </a:p>
        </p:txBody>
      </p:sp>
      <p:sp>
        <p:nvSpPr>
          <p:cNvPr id="27"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Google Shape;15;p7"/>
          <p:cNvSpPr/>
          <p:nvPr/>
        </p:nvSpPr>
        <p:spPr>
          <a:xfrm>
            <a:off x="0" y="0"/>
            <a:ext cx="9144000" cy="838200"/>
          </a:xfrm>
          <a:prstGeom prst="rect">
            <a:avLst/>
          </a:prstGeom>
          <a:solidFill>
            <a:srgbClr val="FF3300"/>
          </a:solidFill>
          <a:ln w="12700">
            <a:miter lim="400000"/>
          </a:ln>
        </p:spPr>
        <p:txBody>
          <a:bodyPr lIns="45719" rIns="45719" anchor="ctr"/>
          <a:lstStyle/>
          <a:p>
            <a:pPr>
              <a:defRPr sz="1800">
                <a:latin typeface="Calibri"/>
                <a:ea typeface="Calibri"/>
                <a:cs typeface="Calibri"/>
                <a:sym typeface="Calibri"/>
              </a:defRPr>
            </a:pPr>
            <a:endParaRPr/>
          </a:p>
        </p:txBody>
      </p:sp>
      <p:sp>
        <p:nvSpPr>
          <p:cNvPr id="3" name="Google Shape;16;p7"/>
          <p:cNvSpPr/>
          <p:nvPr/>
        </p:nvSpPr>
        <p:spPr>
          <a:xfrm rot="10800000" flipH="1">
            <a:off x="0" y="6705600"/>
            <a:ext cx="9144000" cy="198117"/>
          </a:xfrm>
          <a:prstGeom prst="rect">
            <a:avLst/>
          </a:prstGeom>
          <a:solidFill>
            <a:srgbClr val="FF0000"/>
          </a:solidFill>
          <a:ln w="12700">
            <a:miter lim="400000"/>
          </a:ln>
        </p:spPr>
        <p:txBody>
          <a:bodyPr lIns="45719" rIns="45719" anchor="ctr"/>
          <a:lstStyle/>
          <a:p>
            <a:pPr>
              <a:defRPr sz="1800">
                <a:latin typeface="Calibri"/>
                <a:ea typeface="Calibri"/>
                <a:cs typeface="Calibri"/>
                <a:sym typeface="Calibri"/>
              </a:defRPr>
            </a:pPr>
            <a:endParaRPr/>
          </a:p>
        </p:txBody>
      </p:sp>
      <p:pic>
        <p:nvPicPr>
          <p:cNvPr id="4" name="Google Shape;17;p7" descr="Google Shape;17;p7"/>
          <p:cNvPicPr>
            <a:picLocks noChangeAspect="1"/>
          </p:cNvPicPr>
          <p:nvPr/>
        </p:nvPicPr>
        <p:blipFill>
          <a:blip r:embed="rId3"/>
          <a:srcRect b="10713"/>
          <a:stretch>
            <a:fillRect/>
          </a:stretch>
        </p:blipFill>
        <p:spPr>
          <a:xfrm>
            <a:off x="6553200" y="228600"/>
            <a:ext cx="2057400" cy="635000"/>
          </a:xfrm>
          <a:prstGeom prst="rect">
            <a:avLst/>
          </a:prstGeom>
          <a:ln w="12700">
            <a:miter lim="400000"/>
          </a:ln>
        </p:spPr>
      </p:pic>
      <p:pic>
        <p:nvPicPr>
          <p:cNvPr id="5" name="Google Shape;18;p7" descr="Google Shape;18;p7"/>
          <p:cNvPicPr>
            <a:picLocks noChangeAspect="1"/>
          </p:cNvPicPr>
          <p:nvPr/>
        </p:nvPicPr>
        <p:blipFill>
          <a:blip r:embed="rId3"/>
          <a:srcRect b="10713"/>
          <a:stretch>
            <a:fillRect/>
          </a:stretch>
        </p:blipFill>
        <p:spPr>
          <a:xfrm>
            <a:off x="6553200" y="228600"/>
            <a:ext cx="2057400" cy="635000"/>
          </a:xfrm>
          <a:prstGeom prst="rect">
            <a:avLst/>
          </a:prstGeom>
          <a:ln w="12700">
            <a:miter lim="400000"/>
          </a:ln>
        </p:spPr>
      </p:pic>
      <p:grpSp>
        <p:nvGrpSpPr>
          <p:cNvPr id="9" name="Google Shape;19;p7"/>
          <p:cNvGrpSpPr/>
          <p:nvPr/>
        </p:nvGrpSpPr>
        <p:grpSpPr>
          <a:xfrm>
            <a:off x="6146800" y="-1"/>
            <a:ext cx="2997200" cy="876301"/>
            <a:chOff x="0" y="0"/>
            <a:chExt cx="2997200" cy="876300"/>
          </a:xfrm>
        </p:grpSpPr>
        <p:sp>
          <p:nvSpPr>
            <p:cNvPr id="6" name="Google Shape;20;p7"/>
            <p:cNvSpPr/>
            <p:nvPr/>
          </p:nvSpPr>
          <p:spPr>
            <a:xfrm>
              <a:off x="0" y="-1"/>
              <a:ext cx="2997200" cy="838201"/>
            </a:xfrm>
            <a:prstGeom prst="rect">
              <a:avLst/>
            </a:prstGeom>
            <a:solidFill>
              <a:srgbClr val="FF3300"/>
            </a:solidFill>
            <a:ln w="12700" cap="flat">
              <a:noFill/>
              <a:miter lim="400000"/>
            </a:ln>
            <a:effectLst/>
          </p:spPr>
          <p:txBody>
            <a:bodyPr wrap="square" lIns="45719" tIns="45719" rIns="45719" bIns="45719" numCol="1" anchor="ctr">
              <a:noAutofit/>
            </a:bodyPr>
            <a:lstStyle/>
            <a:p>
              <a:pPr>
                <a:defRPr sz="1800">
                  <a:latin typeface="Calibri"/>
                  <a:ea typeface="Calibri"/>
                  <a:cs typeface="Calibri"/>
                  <a:sym typeface="Calibri"/>
                </a:defRPr>
              </a:pPr>
              <a:endParaRPr/>
            </a:p>
          </p:txBody>
        </p:sp>
        <p:pic>
          <p:nvPicPr>
            <p:cNvPr id="7" name="Google Shape;21;p7" descr="Google Shape;21;p7"/>
            <p:cNvPicPr>
              <a:picLocks noChangeAspect="1"/>
            </p:cNvPicPr>
            <p:nvPr/>
          </p:nvPicPr>
          <p:blipFill>
            <a:blip r:embed="rId3"/>
            <a:srcRect b="10713"/>
            <a:stretch>
              <a:fillRect/>
            </a:stretch>
          </p:blipFill>
          <p:spPr>
            <a:xfrm>
              <a:off x="406400" y="228600"/>
              <a:ext cx="2057400" cy="635000"/>
            </a:xfrm>
            <a:prstGeom prst="rect">
              <a:avLst/>
            </a:prstGeom>
            <a:ln w="12700" cap="flat">
              <a:noFill/>
              <a:miter lim="400000"/>
            </a:ln>
            <a:effectLst/>
          </p:spPr>
        </p:pic>
        <p:sp>
          <p:nvSpPr>
            <p:cNvPr id="8" name="Google Shape;22;p7"/>
            <p:cNvSpPr/>
            <p:nvPr/>
          </p:nvSpPr>
          <p:spPr>
            <a:xfrm>
              <a:off x="381000" y="190500"/>
              <a:ext cx="2076450" cy="685800"/>
            </a:xfrm>
            <a:prstGeom prst="rect">
              <a:avLst/>
            </a:prstGeom>
            <a:solidFill>
              <a:srgbClr val="FFFFFF"/>
            </a:solidFill>
            <a:ln w="12700" cap="flat">
              <a:noFill/>
              <a:miter lim="400000"/>
            </a:ln>
            <a:effectLst/>
          </p:spPr>
          <p:txBody>
            <a:bodyPr wrap="square" lIns="45719" tIns="45719" rIns="45719" bIns="45719" numCol="1" anchor="ctr">
              <a:noAutofit/>
            </a:bodyPr>
            <a:lstStyle/>
            <a:p>
              <a:pPr algn="ctr">
                <a:defRPr sz="1800">
                  <a:solidFill>
                    <a:srgbClr val="FFFFFF"/>
                  </a:solidFill>
                </a:defRPr>
              </a:pPr>
              <a:endParaRPr/>
            </a:p>
          </p:txBody>
        </p:sp>
      </p:grpSp>
      <p:pic>
        <p:nvPicPr>
          <p:cNvPr id="10" name="Google Shape;23;p7" descr="Google Shape;23;p7"/>
          <p:cNvPicPr>
            <a:picLocks noChangeAspect="1"/>
          </p:cNvPicPr>
          <p:nvPr/>
        </p:nvPicPr>
        <p:blipFill>
          <a:blip r:embed="rId4"/>
          <a:stretch>
            <a:fillRect/>
          </a:stretch>
        </p:blipFill>
        <p:spPr>
          <a:xfrm>
            <a:off x="6553200" y="228600"/>
            <a:ext cx="1920875" cy="609600"/>
          </a:xfrm>
          <a:prstGeom prst="rect">
            <a:avLst/>
          </a:prstGeom>
          <a:ln w="12700">
            <a:miter lim="400000"/>
          </a:ln>
        </p:spPr>
      </p:pic>
      <p:pic>
        <p:nvPicPr>
          <p:cNvPr id="11" name="Google Shape;25;p8" descr="Google Shape;25;p8"/>
          <p:cNvPicPr>
            <a:picLocks noChangeAspect="1"/>
          </p:cNvPicPr>
          <p:nvPr/>
        </p:nvPicPr>
        <p:blipFill>
          <a:blip r:embed="rId3"/>
          <a:srcRect b="10713"/>
          <a:stretch>
            <a:fillRect/>
          </a:stretch>
        </p:blipFill>
        <p:spPr>
          <a:xfrm>
            <a:off x="6553200" y="228600"/>
            <a:ext cx="2057400" cy="635000"/>
          </a:xfrm>
          <a:prstGeom prst="rect">
            <a:avLst/>
          </a:prstGeom>
          <a:ln w="12700">
            <a:miter lim="400000"/>
          </a:ln>
        </p:spPr>
      </p:pic>
      <p:grpSp>
        <p:nvGrpSpPr>
          <p:cNvPr id="15" name="Google Shape;26;p8"/>
          <p:cNvGrpSpPr/>
          <p:nvPr/>
        </p:nvGrpSpPr>
        <p:grpSpPr>
          <a:xfrm>
            <a:off x="6146800" y="-1"/>
            <a:ext cx="2997200" cy="876301"/>
            <a:chOff x="0" y="0"/>
            <a:chExt cx="2997200" cy="876300"/>
          </a:xfrm>
        </p:grpSpPr>
        <p:sp>
          <p:nvSpPr>
            <p:cNvPr id="12" name="Google Shape;27;p8"/>
            <p:cNvSpPr/>
            <p:nvPr/>
          </p:nvSpPr>
          <p:spPr>
            <a:xfrm>
              <a:off x="0" y="-1"/>
              <a:ext cx="2997200" cy="838201"/>
            </a:xfrm>
            <a:prstGeom prst="rect">
              <a:avLst/>
            </a:prstGeom>
            <a:solidFill>
              <a:srgbClr val="FF3300"/>
            </a:solidFill>
            <a:ln w="12700" cap="flat">
              <a:noFill/>
              <a:miter lim="400000"/>
            </a:ln>
            <a:effectLst/>
          </p:spPr>
          <p:txBody>
            <a:bodyPr wrap="square" lIns="45719" tIns="45719" rIns="45719" bIns="45719" numCol="1" anchor="ctr">
              <a:noAutofit/>
            </a:bodyPr>
            <a:lstStyle/>
            <a:p>
              <a:pPr>
                <a:defRPr sz="1800">
                  <a:latin typeface="Calibri"/>
                  <a:ea typeface="Calibri"/>
                  <a:cs typeface="Calibri"/>
                  <a:sym typeface="Calibri"/>
                </a:defRPr>
              </a:pPr>
              <a:endParaRPr/>
            </a:p>
          </p:txBody>
        </p:sp>
        <p:pic>
          <p:nvPicPr>
            <p:cNvPr id="13" name="Google Shape;28;p8" descr="Google Shape;28;p8"/>
            <p:cNvPicPr>
              <a:picLocks noChangeAspect="1"/>
            </p:cNvPicPr>
            <p:nvPr/>
          </p:nvPicPr>
          <p:blipFill>
            <a:blip r:embed="rId3"/>
            <a:srcRect b="10713"/>
            <a:stretch>
              <a:fillRect/>
            </a:stretch>
          </p:blipFill>
          <p:spPr>
            <a:xfrm>
              <a:off x="406400" y="228600"/>
              <a:ext cx="2057400" cy="635000"/>
            </a:xfrm>
            <a:prstGeom prst="rect">
              <a:avLst/>
            </a:prstGeom>
            <a:ln w="12700" cap="flat">
              <a:noFill/>
              <a:miter lim="400000"/>
            </a:ln>
            <a:effectLst/>
          </p:spPr>
        </p:pic>
        <p:sp>
          <p:nvSpPr>
            <p:cNvPr id="14" name="Google Shape;29;p8"/>
            <p:cNvSpPr/>
            <p:nvPr/>
          </p:nvSpPr>
          <p:spPr>
            <a:xfrm>
              <a:off x="381000" y="190500"/>
              <a:ext cx="2076450" cy="685800"/>
            </a:xfrm>
            <a:prstGeom prst="rect">
              <a:avLst/>
            </a:prstGeom>
            <a:solidFill>
              <a:srgbClr val="FFFFFF"/>
            </a:solidFill>
            <a:ln w="12700" cap="flat">
              <a:noFill/>
              <a:miter lim="400000"/>
            </a:ln>
            <a:effectLst/>
          </p:spPr>
          <p:txBody>
            <a:bodyPr wrap="square" lIns="45719" tIns="45719" rIns="45719" bIns="45719" numCol="1" anchor="ctr">
              <a:noAutofit/>
            </a:bodyPr>
            <a:lstStyle/>
            <a:p>
              <a:pPr algn="ctr">
                <a:defRPr sz="1800">
                  <a:solidFill>
                    <a:srgbClr val="FFFFFF"/>
                  </a:solidFill>
                </a:defRPr>
              </a:pPr>
              <a:endParaRPr/>
            </a:p>
          </p:txBody>
        </p:sp>
      </p:grpSp>
      <p:pic>
        <p:nvPicPr>
          <p:cNvPr id="16" name="Google Shape;30;p8" descr="Google Shape;30;p8"/>
          <p:cNvPicPr>
            <a:picLocks noChangeAspect="1"/>
          </p:cNvPicPr>
          <p:nvPr/>
        </p:nvPicPr>
        <p:blipFill>
          <a:blip r:embed="rId4"/>
          <a:stretch>
            <a:fillRect/>
          </a:stretch>
        </p:blipFill>
        <p:spPr>
          <a:xfrm>
            <a:off x="6553200" y="228600"/>
            <a:ext cx="1920875" cy="609600"/>
          </a:xfrm>
          <a:prstGeom prst="rect">
            <a:avLst/>
          </a:prstGeom>
          <a:ln w="12700">
            <a:miter lim="400000"/>
          </a:ln>
        </p:spPr>
      </p:pic>
      <p:sp>
        <p:nvSpPr>
          <p:cNvPr id="17" name="Title Text"/>
          <p:cNvSpPr txBox="1">
            <a:spLocks noGrp="1"/>
          </p:cNvSpPr>
          <p:nvPr>
            <p:ph type="title"/>
          </p:nvPr>
        </p:nvSpPr>
        <p:spPr>
          <a:xfrm>
            <a:off x="0" y="0"/>
            <a:ext cx="6477000" cy="8382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nchor="ctr">
            <a:normAutofit/>
          </a:bodyPr>
          <a:lstStyle/>
          <a:p>
            <a:r>
              <a:t>Title Text</a:t>
            </a:r>
          </a:p>
        </p:txBody>
      </p:sp>
      <p:sp>
        <p:nvSpPr>
          <p:cNvPr id="18" name="Body Level One…"/>
          <p:cNvSpPr txBox="1">
            <a:spLocks noGrp="1"/>
          </p:cNvSpPr>
          <p:nvPr>
            <p:ph type="body" idx="1"/>
          </p:nvPr>
        </p:nvSpPr>
        <p:spPr>
          <a:xfrm>
            <a:off x="457200" y="1371600"/>
            <a:ext cx="8229600" cy="45259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normAutofit/>
          </a:bodyPr>
          <a:lstStyle/>
          <a:p>
            <a:r>
              <a:t>Body Level One</a:t>
            </a:r>
          </a:p>
          <a:p>
            <a:pPr lvl="1"/>
            <a:r>
              <a:t>Body Level Two</a:t>
            </a:r>
          </a:p>
          <a:p>
            <a:pPr lvl="2"/>
            <a:r>
              <a:t>Body Level Three</a:t>
            </a:r>
          </a:p>
          <a:p>
            <a:pPr lvl="3"/>
            <a:r>
              <a:t>Body Level Four</a:t>
            </a:r>
          </a:p>
          <a:p>
            <a:pPr lvl="4"/>
            <a:r>
              <a:t>Body Level Five</a:t>
            </a:r>
          </a:p>
        </p:txBody>
      </p:sp>
      <p:sp>
        <p:nvSpPr>
          <p:cNvPr id="19" name="Slide Number"/>
          <p:cNvSpPr txBox="1">
            <a:spLocks noGrp="1"/>
          </p:cNvSpPr>
          <p:nvPr>
            <p:ph type="sldNum" sz="quarter" idx="2"/>
          </p:nvPr>
        </p:nvSpPr>
        <p:spPr>
          <a:xfrm>
            <a:off x="8428216" y="6414780"/>
            <a:ext cx="258585" cy="248265"/>
          </a:xfrm>
          <a:prstGeom prst="rect">
            <a:avLst/>
          </a:prstGeom>
          <a:ln w="12700">
            <a:miter lim="400000"/>
          </a:ln>
        </p:spPr>
        <p:txBody>
          <a:bodyPr wrap="none" lIns="45699" tIns="45699" rIns="45699" bIns="45699" anchor="ctr">
            <a:spAutoFit/>
          </a:bodyPr>
          <a:lstStyle>
            <a:lvl1pPr algn="r">
              <a:defRPr sz="1200">
                <a:solidFill>
                  <a:srgbClr val="898989"/>
                </a:solidFill>
                <a:latin typeface="Calibri"/>
                <a:ea typeface="Calibri"/>
                <a:cs typeface="Calibri"/>
                <a:sym typeface="Calibri"/>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Lst>
  <p:transition spd="med"/>
  <p:txStyles>
    <p:titleStyle>
      <a:lvl1pPr marL="0" marR="0" indent="0" algn="ctr" defTabSz="914400" rtl="0" latinLnBrk="0">
        <a:lnSpc>
          <a:spcPct val="100000"/>
        </a:lnSpc>
        <a:spcBef>
          <a:spcPts val="0"/>
        </a:spcBef>
        <a:spcAft>
          <a:spcPts val="0"/>
        </a:spcAft>
        <a:buClrTx/>
        <a:buSzTx/>
        <a:buFontTx/>
        <a:buNone/>
        <a:tabLst/>
        <a:defRPr sz="3000" b="0" i="0" u="none" strike="noStrike" cap="none" spc="0" baseline="0">
          <a:solidFill>
            <a:srgbClr val="000000"/>
          </a:solidFill>
          <a:uFillTx/>
          <a:latin typeface="Calibri"/>
          <a:ea typeface="Calibri"/>
          <a:cs typeface="Calibri"/>
          <a:sym typeface="Calibri"/>
        </a:defRPr>
      </a:lvl1pPr>
      <a:lvl2pPr marL="0" marR="0" indent="0" algn="ctr" defTabSz="914400" rtl="0" latinLnBrk="0">
        <a:lnSpc>
          <a:spcPct val="100000"/>
        </a:lnSpc>
        <a:spcBef>
          <a:spcPts val="0"/>
        </a:spcBef>
        <a:spcAft>
          <a:spcPts val="0"/>
        </a:spcAft>
        <a:buClrTx/>
        <a:buSzTx/>
        <a:buFontTx/>
        <a:buNone/>
        <a:tabLst/>
        <a:defRPr sz="3000" b="0" i="0" u="none" strike="noStrike" cap="none" spc="0" baseline="0">
          <a:solidFill>
            <a:srgbClr val="000000"/>
          </a:solidFill>
          <a:uFillTx/>
          <a:latin typeface="Calibri"/>
          <a:ea typeface="Calibri"/>
          <a:cs typeface="Calibri"/>
          <a:sym typeface="Calibri"/>
        </a:defRPr>
      </a:lvl2pPr>
      <a:lvl3pPr marL="0" marR="0" indent="0" algn="ctr" defTabSz="914400" rtl="0" latinLnBrk="0">
        <a:lnSpc>
          <a:spcPct val="100000"/>
        </a:lnSpc>
        <a:spcBef>
          <a:spcPts val="0"/>
        </a:spcBef>
        <a:spcAft>
          <a:spcPts val="0"/>
        </a:spcAft>
        <a:buClrTx/>
        <a:buSzTx/>
        <a:buFontTx/>
        <a:buNone/>
        <a:tabLst/>
        <a:defRPr sz="3000" b="0" i="0" u="none" strike="noStrike" cap="none" spc="0" baseline="0">
          <a:solidFill>
            <a:srgbClr val="000000"/>
          </a:solidFill>
          <a:uFillTx/>
          <a:latin typeface="Calibri"/>
          <a:ea typeface="Calibri"/>
          <a:cs typeface="Calibri"/>
          <a:sym typeface="Calibri"/>
        </a:defRPr>
      </a:lvl3pPr>
      <a:lvl4pPr marL="0" marR="0" indent="0" algn="ctr" defTabSz="914400" rtl="0" latinLnBrk="0">
        <a:lnSpc>
          <a:spcPct val="100000"/>
        </a:lnSpc>
        <a:spcBef>
          <a:spcPts val="0"/>
        </a:spcBef>
        <a:spcAft>
          <a:spcPts val="0"/>
        </a:spcAft>
        <a:buClrTx/>
        <a:buSzTx/>
        <a:buFontTx/>
        <a:buNone/>
        <a:tabLst/>
        <a:defRPr sz="3000" b="0" i="0" u="none" strike="noStrike" cap="none" spc="0" baseline="0">
          <a:solidFill>
            <a:srgbClr val="000000"/>
          </a:solidFill>
          <a:uFillTx/>
          <a:latin typeface="Calibri"/>
          <a:ea typeface="Calibri"/>
          <a:cs typeface="Calibri"/>
          <a:sym typeface="Calibri"/>
        </a:defRPr>
      </a:lvl4pPr>
      <a:lvl5pPr marL="0" marR="0" indent="0" algn="ctr" defTabSz="914400" rtl="0" latinLnBrk="0">
        <a:lnSpc>
          <a:spcPct val="100000"/>
        </a:lnSpc>
        <a:spcBef>
          <a:spcPts val="0"/>
        </a:spcBef>
        <a:spcAft>
          <a:spcPts val="0"/>
        </a:spcAft>
        <a:buClrTx/>
        <a:buSzTx/>
        <a:buFontTx/>
        <a:buNone/>
        <a:tabLst/>
        <a:defRPr sz="3000" b="0" i="0" u="none" strike="noStrike" cap="none" spc="0" baseline="0">
          <a:solidFill>
            <a:srgbClr val="000000"/>
          </a:solidFill>
          <a:uFillTx/>
          <a:latin typeface="Calibri"/>
          <a:ea typeface="Calibri"/>
          <a:cs typeface="Calibri"/>
          <a:sym typeface="Calibri"/>
        </a:defRPr>
      </a:lvl5pPr>
      <a:lvl6pPr marL="0" marR="0" indent="0" algn="ctr" defTabSz="914400" rtl="0" latinLnBrk="0">
        <a:lnSpc>
          <a:spcPct val="100000"/>
        </a:lnSpc>
        <a:spcBef>
          <a:spcPts val="0"/>
        </a:spcBef>
        <a:spcAft>
          <a:spcPts val="0"/>
        </a:spcAft>
        <a:buClrTx/>
        <a:buSzTx/>
        <a:buFontTx/>
        <a:buNone/>
        <a:tabLst/>
        <a:defRPr sz="3000" b="0" i="0" u="none" strike="noStrike" cap="none" spc="0" baseline="0">
          <a:solidFill>
            <a:srgbClr val="000000"/>
          </a:solidFill>
          <a:uFillTx/>
          <a:latin typeface="Calibri"/>
          <a:ea typeface="Calibri"/>
          <a:cs typeface="Calibri"/>
          <a:sym typeface="Calibri"/>
        </a:defRPr>
      </a:lvl6pPr>
      <a:lvl7pPr marL="0" marR="0" indent="0" algn="ctr" defTabSz="914400" rtl="0" latinLnBrk="0">
        <a:lnSpc>
          <a:spcPct val="100000"/>
        </a:lnSpc>
        <a:spcBef>
          <a:spcPts val="0"/>
        </a:spcBef>
        <a:spcAft>
          <a:spcPts val="0"/>
        </a:spcAft>
        <a:buClrTx/>
        <a:buSzTx/>
        <a:buFontTx/>
        <a:buNone/>
        <a:tabLst/>
        <a:defRPr sz="3000" b="0" i="0" u="none" strike="noStrike" cap="none" spc="0" baseline="0">
          <a:solidFill>
            <a:srgbClr val="000000"/>
          </a:solidFill>
          <a:uFillTx/>
          <a:latin typeface="Calibri"/>
          <a:ea typeface="Calibri"/>
          <a:cs typeface="Calibri"/>
          <a:sym typeface="Calibri"/>
        </a:defRPr>
      </a:lvl7pPr>
      <a:lvl8pPr marL="0" marR="0" indent="0" algn="ctr" defTabSz="914400" rtl="0" latinLnBrk="0">
        <a:lnSpc>
          <a:spcPct val="100000"/>
        </a:lnSpc>
        <a:spcBef>
          <a:spcPts val="0"/>
        </a:spcBef>
        <a:spcAft>
          <a:spcPts val="0"/>
        </a:spcAft>
        <a:buClrTx/>
        <a:buSzTx/>
        <a:buFontTx/>
        <a:buNone/>
        <a:tabLst/>
        <a:defRPr sz="3000" b="0" i="0" u="none" strike="noStrike" cap="none" spc="0" baseline="0">
          <a:solidFill>
            <a:srgbClr val="000000"/>
          </a:solidFill>
          <a:uFillTx/>
          <a:latin typeface="Calibri"/>
          <a:ea typeface="Calibri"/>
          <a:cs typeface="Calibri"/>
          <a:sym typeface="Calibri"/>
        </a:defRPr>
      </a:lvl8pPr>
      <a:lvl9pPr marL="0" marR="0" indent="0" algn="ctr" defTabSz="914400" rtl="0" latinLnBrk="0">
        <a:lnSpc>
          <a:spcPct val="100000"/>
        </a:lnSpc>
        <a:spcBef>
          <a:spcPts val="0"/>
        </a:spcBef>
        <a:spcAft>
          <a:spcPts val="0"/>
        </a:spcAft>
        <a:buClrTx/>
        <a:buSzTx/>
        <a:buFontTx/>
        <a:buNone/>
        <a:tabLst/>
        <a:defRPr sz="3000" b="0" i="0" u="none" strike="noStrike" cap="none" spc="0" baseline="0">
          <a:solidFill>
            <a:srgbClr val="000000"/>
          </a:solidFill>
          <a:uFillTx/>
          <a:latin typeface="Calibri"/>
          <a:ea typeface="Calibri"/>
          <a:cs typeface="Calibri"/>
          <a:sym typeface="Calibri"/>
        </a:defRPr>
      </a:lvl9pPr>
    </p:titleStyle>
    <p:bodyStyle>
      <a:lvl1pPr marL="457200" marR="0" indent="-342900" algn="l" defTabSz="914400" rtl="0" latinLnBrk="0">
        <a:lnSpc>
          <a:spcPct val="100000"/>
        </a:lnSpc>
        <a:spcBef>
          <a:spcPts val="300"/>
        </a:spcBef>
        <a:spcAft>
          <a:spcPts val="0"/>
        </a:spcAft>
        <a:buClr>
          <a:srgbClr val="000000"/>
        </a:buClr>
        <a:buSzPts val="3200"/>
        <a:buFont typeface="Arial"/>
        <a:buChar char="•"/>
        <a:tabLst/>
        <a:defRPr sz="3200" b="0" i="0" u="none" strike="noStrike" cap="none" spc="0" baseline="0">
          <a:solidFill>
            <a:srgbClr val="000000"/>
          </a:solidFill>
          <a:uFillTx/>
          <a:latin typeface="Calibri"/>
          <a:ea typeface="Calibri"/>
          <a:cs typeface="Calibri"/>
          <a:sym typeface="Calibri"/>
        </a:defRPr>
      </a:lvl1pPr>
      <a:lvl2pPr marL="963385" marR="0" indent="-391885" algn="l" defTabSz="914400" rtl="0" latinLnBrk="0">
        <a:lnSpc>
          <a:spcPct val="100000"/>
        </a:lnSpc>
        <a:spcBef>
          <a:spcPts val="300"/>
        </a:spcBef>
        <a:spcAft>
          <a:spcPts val="0"/>
        </a:spcAft>
        <a:buClr>
          <a:srgbClr val="000000"/>
        </a:buClr>
        <a:buSzPts val="3200"/>
        <a:buFont typeface="Arial"/>
        <a:buChar char="–"/>
        <a:tabLst/>
        <a:defRPr sz="3200" b="0" i="0" u="none" strike="noStrike" cap="none" spc="0" baseline="0">
          <a:solidFill>
            <a:srgbClr val="000000"/>
          </a:solidFill>
          <a:uFillTx/>
          <a:latin typeface="Calibri"/>
          <a:ea typeface="Calibri"/>
          <a:cs typeface="Calibri"/>
          <a:sym typeface="Calibri"/>
        </a:defRPr>
      </a:lvl2pPr>
      <a:lvl3pPr marL="1485900" marR="0" indent="-457200" algn="l" defTabSz="914400" rtl="0" latinLnBrk="0">
        <a:lnSpc>
          <a:spcPct val="100000"/>
        </a:lnSpc>
        <a:spcBef>
          <a:spcPts val="300"/>
        </a:spcBef>
        <a:spcAft>
          <a:spcPts val="0"/>
        </a:spcAft>
        <a:buClr>
          <a:srgbClr val="000000"/>
        </a:buClr>
        <a:buSzPts val="3200"/>
        <a:buFont typeface="Arial"/>
        <a:buChar char="•"/>
        <a:tabLst/>
        <a:defRPr sz="3200" b="0" i="0" u="none" strike="noStrike" cap="none" spc="0" baseline="0">
          <a:solidFill>
            <a:srgbClr val="000000"/>
          </a:solidFill>
          <a:uFillTx/>
          <a:latin typeface="Calibri"/>
          <a:ea typeface="Calibri"/>
          <a:cs typeface="Calibri"/>
          <a:sym typeface="Calibri"/>
        </a:defRPr>
      </a:lvl3pPr>
      <a:lvl4pPr marL="2034539" marR="0" indent="-548639" algn="l" defTabSz="914400" rtl="0" latinLnBrk="0">
        <a:lnSpc>
          <a:spcPct val="100000"/>
        </a:lnSpc>
        <a:spcBef>
          <a:spcPts val="300"/>
        </a:spcBef>
        <a:spcAft>
          <a:spcPts val="0"/>
        </a:spcAft>
        <a:buClr>
          <a:srgbClr val="000000"/>
        </a:buClr>
        <a:buSzPts val="3200"/>
        <a:buFont typeface="Arial"/>
        <a:buChar char="–"/>
        <a:tabLst/>
        <a:defRPr sz="3200" b="0" i="0" u="none" strike="noStrike" cap="none" spc="0" baseline="0">
          <a:solidFill>
            <a:srgbClr val="000000"/>
          </a:solidFill>
          <a:uFillTx/>
          <a:latin typeface="Calibri"/>
          <a:ea typeface="Calibri"/>
          <a:cs typeface="Calibri"/>
          <a:sym typeface="Calibri"/>
        </a:defRPr>
      </a:lvl4pPr>
      <a:lvl5pPr marL="2491739" marR="0" indent="-548639" algn="l" defTabSz="914400" rtl="0" latinLnBrk="0">
        <a:lnSpc>
          <a:spcPct val="100000"/>
        </a:lnSpc>
        <a:spcBef>
          <a:spcPts val="300"/>
        </a:spcBef>
        <a:spcAft>
          <a:spcPts val="0"/>
        </a:spcAft>
        <a:buClr>
          <a:srgbClr val="000000"/>
        </a:buClr>
        <a:buSzPts val="3200"/>
        <a:buFont typeface="Arial"/>
        <a:buChar char="»"/>
        <a:tabLst/>
        <a:defRPr sz="3200" b="0" i="0" u="none" strike="noStrike" cap="none" spc="0" baseline="0">
          <a:solidFill>
            <a:srgbClr val="000000"/>
          </a:solidFill>
          <a:uFillTx/>
          <a:latin typeface="Calibri"/>
          <a:ea typeface="Calibri"/>
          <a:cs typeface="Calibri"/>
          <a:sym typeface="Calibri"/>
        </a:defRPr>
      </a:lvl5pPr>
      <a:lvl6pPr marL="2948939" marR="0" indent="-548639" algn="l" defTabSz="914400" rtl="0" latinLnBrk="0">
        <a:lnSpc>
          <a:spcPct val="100000"/>
        </a:lnSpc>
        <a:spcBef>
          <a:spcPts val="300"/>
        </a:spcBef>
        <a:spcAft>
          <a:spcPts val="0"/>
        </a:spcAft>
        <a:buClr>
          <a:srgbClr val="000000"/>
        </a:buClr>
        <a:buSzPts val="3200"/>
        <a:buFont typeface="Arial"/>
        <a:buChar char="•"/>
        <a:tabLst/>
        <a:defRPr sz="3200" b="0" i="0" u="none" strike="noStrike" cap="none" spc="0" baseline="0">
          <a:solidFill>
            <a:srgbClr val="000000"/>
          </a:solidFill>
          <a:uFillTx/>
          <a:latin typeface="Calibri"/>
          <a:ea typeface="Calibri"/>
          <a:cs typeface="Calibri"/>
          <a:sym typeface="Calibri"/>
        </a:defRPr>
      </a:lvl6pPr>
      <a:lvl7pPr marL="3406140" marR="0" indent="-548640" algn="l" defTabSz="914400" rtl="0" latinLnBrk="0">
        <a:lnSpc>
          <a:spcPct val="100000"/>
        </a:lnSpc>
        <a:spcBef>
          <a:spcPts val="300"/>
        </a:spcBef>
        <a:spcAft>
          <a:spcPts val="0"/>
        </a:spcAft>
        <a:buClr>
          <a:srgbClr val="000000"/>
        </a:buClr>
        <a:buSzPts val="3200"/>
        <a:buFont typeface="Arial"/>
        <a:buChar char="•"/>
        <a:tabLst/>
        <a:defRPr sz="3200" b="0" i="0" u="none" strike="noStrike" cap="none" spc="0" baseline="0">
          <a:solidFill>
            <a:srgbClr val="000000"/>
          </a:solidFill>
          <a:uFillTx/>
          <a:latin typeface="Calibri"/>
          <a:ea typeface="Calibri"/>
          <a:cs typeface="Calibri"/>
          <a:sym typeface="Calibri"/>
        </a:defRPr>
      </a:lvl7pPr>
      <a:lvl8pPr marL="3863340" marR="0" indent="-548640" algn="l" defTabSz="914400" rtl="0" latinLnBrk="0">
        <a:lnSpc>
          <a:spcPct val="100000"/>
        </a:lnSpc>
        <a:spcBef>
          <a:spcPts val="300"/>
        </a:spcBef>
        <a:spcAft>
          <a:spcPts val="0"/>
        </a:spcAft>
        <a:buClr>
          <a:srgbClr val="000000"/>
        </a:buClr>
        <a:buSzPts val="3200"/>
        <a:buFont typeface="Arial"/>
        <a:buChar char="•"/>
        <a:tabLst/>
        <a:defRPr sz="3200" b="0" i="0" u="none" strike="noStrike" cap="none" spc="0" baseline="0">
          <a:solidFill>
            <a:srgbClr val="000000"/>
          </a:solidFill>
          <a:uFillTx/>
          <a:latin typeface="Calibri"/>
          <a:ea typeface="Calibri"/>
          <a:cs typeface="Calibri"/>
          <a:sym typeface="Calibri"/>
        </a:defRPr>
      </a:lvl8pPr>
      <a:lvl9pPr marL="4320540" marR="0" indent="-548640" algn="l" defTabSz="914400" rtl="0" latinLnBrk="0">
        <a:lnSpc>
          <a:spcPct val="100000"/>
        </a:lnSpc>
        <a:spcBef>
          <a:spcPts val="300"/>
        </a:spcBef>
        <a:spcAft>
          <a:spcPts val="0"/>
        </a:spcAft>
        <a:buClr>
          <a:srgbClr val="000000"/>
        </a:buClr>
        <a:buSzPts val="3200"/>
        <a:buFont typeface="Arial"/>
        <a:buChar char="•"/>
        <a:tabLst/>
        <a:defRPr sz="3200" b="0" i="0" u="none" strike="noStrike" cap="none" spc="0" baseline="0">
          <a:solidFill>
            <a:srgbClr val="000000"/>
          </a:solidFill>
          <a:uFillTx/>
          <a:latin typeface="Calibri"/>
          <a:ea typeface="Calibri"/>
          <a:cs typeface="Calibri"/>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Google Shape;46;p1"/>
          <p:cNvSpPr txBox="1"/>
          <p:nvPr/>
        </p:nvSpPr>
        <p:spPr>
          <a:xfrm>
            <a:off x="502925" y="6414780"/>
            <a:ext cx="2042150" cy="2482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nchor="ctr">
            <a:spAutoFit/>
          </a:bodyPr>
          <a:lstStyle>
            <a:lvl1pPr>
              <a:defRPr sz="1200">
                <a:solidFill>
                  <a:srgbClr val="898989"/>
                </a:solidFill>
                <a:latin typeface="Calibri"/>
                <a:ea typeface="Calibri"/>
                <a:cs typeface="Calibri"/>
                <a:sym typeface="Calibri"/>
              </a:defRPr>
            </a:lvl1pPr>
          </a:lstStyle>
          <a:p>
            <a:r>
              <a:t>22CS026</a:t>
            </a:r>
          </a:p>
        </p:txBody>
      </p:sp>
      <p:sp>
        <p:nvSpPr>
          <p:cNvPr id="38" name="Google Shape;47;p1"/>
          <p:cNvSpPr txBox="1">
            <a:spLocks noGrp="1"/>
          </p:cNvSpPr>
          <p:nvPr>
            <p:ph type="sldNum" sz="quarter" idx="2"/>
          </p:nvPr>
        </p:nvSpPr>
        <p:spPr>
          <a:xfrm>
            <a:off x="8505458" y="6414780"/>
            <a:ext cx="181343" cy="24826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a:t>
            </a:fld>
            <a:endParaRPr/>
          </a:p>
        </p:txBody>
      </p:sp>
      <p:sp>
        <p:nvSpPr>
          <p:cNvPr id="39" name="Google Shape;48;p1"/>
          <p:cNvSpPr txBox="1"/>
          <p:nvPr/>
        </p:nvSpPr>
        <p:spPr>
          <a:xfrm>
            <a:off x="58325" y="1785119"/>
            <a:ext cx="9027350" cy="400638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3099" tIns="33099" rIns="33099" bIns="33099" anchor="ctr">
            <a:spAutoFit/>
          </a:bodyPr>
          <a:lstStyle/>
          <a:p>
            <a:pPr algn="ctr">
              <a:defRPr sz="3200" b="1">
                <a:solidFill>
                  <a:srgbClr val="FF0000"/>
                </a:solidFill>
              </a:defRPr>
            </a:pPr>
            <a:endParaRPr dirty="0"/>
          </a:p>
          <a:p>
            <a:pPr algn="ctr">
              <a:defRPr sz="3200" b="1">
                <a:solidFill>
                  <a:srgbClr val="FF0000"/>
                </a:solidFill>
              </a:defRPr>
            </a:pPr>
            <a:endParaRPr dirty="0"/>
          </a:p>
          <a:p>
            <a:pPr algn="ctr">
              <a:defRPr sz="3200" b="1">
                <a:solidFill>
                  <a:srgbClr val="FF0000"/>
                </a:solidFill>
              </a:defRPr>
            </a:pPr>
            <a:endParaRPr dirty="0"/>
          </a:p>
          <a:p>
            <a:pPr algn="ctr">
              <a:defRPr sz="3200" b="1"/>
            </a:pPr>
            <a:endParaRPr dirty="0"/>
          </a:p>
          <a:p>
            <a:pPr algn="ctr">
              <a:defRPr sz="3200" b="1">
                <a:solidFill>
                  <a:srgbClr val="FF0000"/>
                </a:solidFill>
              </a:defRPr>
            </a:pPr>
            <a:endParaRPr dirty="0"/>
          </a:p>
          <a:p>
            <a:pPr algn="ctr">
              <a:defRPr sz="3200" b="1">
                <a:solidFill>
                  <a:srgbClr val="FF0000"/>
                </a:solidFill>
              </a:defRPr>
            </a:pPr>
            <a:endParaRPr dirty="0"/>
          </a:p>
          <a:p>
            <a:pPr algn="ctr">
              <a:defRPr sz="3200" b="1">
                <a:solidFill>
                  <a:srgbClr val="FF0000"/>
                </a:solidFill>
              </a:defRPr>
            </a:pPr>
            <a:br>
              <a:rPr dirty="0"/>
            </a:br>
            <a:endParaRPr dirty="0"/>
          </a:p>
        </p:txBody>
      </p:sp>
      <p:sp>
        <p:nvSpPr>
          <p:cNvPr id="3" name="TextBox 2">
            <a:extLst>
              <a:ext uri="{FF2B5EF4-FFF2-40B4-BE49-F238E27FC236}">
                <a16:creationId xmlns:a16="http://schemas.microsoft.com/office/drawing/2014/main" id="{7BC1F2C9-C5A9-4DA0-CE10-E5ADC8356621}"/>
              </a:ext>
            </a:extLst>
          </p:cNvPr>
          <p:cNvSpPr txBox="1"/>
          <p:nvPr/>
        </p:nvSpPr>
        <p:spPr>
          <a:xfrm>
            <a:off x="198120" y="1066496"/>
            <a:ext cx="8778240" cy="43858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100000"/>
              </a:lnSpc>
              <a:spcBef>
                <a:spcPts val="400"/>
              </a:spcBef>
            </a:pPr>
            <a:r>
              <a:rPr lang="en-IN" sz="1800"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sz="1800" dirty="0">
                <a:latin typeface="Times New Roman" panose="02020603050405020304" pitchFamily="18" charset="0"/>
                <a:ea typeface="Calibri" panose="020F0502020204030204" pitchFamily="34" charset="0"/>
                <a:cs typeface="Times New Roman" panose="02020603050405020304" pitchFamily="18" charset="0"/>
              </a:rPr>
              <a:t>Co-Op Project at Industry (Module-1) </a:t>
            </a:r>
            <a:endParaRPr lang="en-IN" sz="1800"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3200" b="1" spc="-1" dirty="0">
                <a:latin typeface="Times New Roman" panose="02020603050405020304" pitchFamily="18" charset="0"/>
                <a:ea typeface="Calibri" panose="020F0502020204030204" pitchFamily="34" charset="0"/>
                <a:cs typeface="Times New Roman" panose="02020603050405020304" pitchFamily="18" charset="0"/>
              </a:rPr>
              <a:t>MoviFy</a:t>
            </a:r>
          </a:p>
          <a:p>
            <a:pPr algn="ctr">
              <a:lnSpc>
                <a:spcPct val="100000"/>
              </a:lnSpc>
              <a:spcBef>
                <a:spcPts val="400"/>
              </a:spcBef>
            </a:pPr>
            <a:r>
              <a:rPr lang="en-US" sz="2300" b="1" strike="noStrike" spc="-1" dirty="0">
                <a:solidFill>
                  <a:srgbClr val="000000"/>
                </a:solidFill>
                <a:latin typeface="Times New Roman" panose="02020603050405020304" pitchFamily="18" charset="0"/>
                <a:ea typeface="MS PGothic"/>
                <a:cs typeface="Times New Roman" panose="02020603050405020304" pitchFamily="18" charset="0"/>
              </a:rPr>
              <a:t>Movie Recommendation System</a:t>
            </a:r>
            <a:br>
              <a:rPr lang="en-US" sz="12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Parag Pratim Pan</a:t>
            </a: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2210990635</a:t>
            </a:r>
          </a:p>
          <a:p>
            <a:pPr algn="ctr">
              <a:lnSpc>
                <a:spcPct val="100000"/>
              </a:lnSpc>
              <a:spcBef>
                <a:spcPts val="400"/>
              </a:spcBef>
            </a:pPr>
            <a:endParaRPr lang="en-US" sz="12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16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1600" b="0" strike="noStrike" spc="-1" dirty="0">
                <a:solidFill>
                  <a:srgbClr val="000000"/>
                </a:solidFill>
                <a:latin typeface="Times New Roman" panose="02020603050405020304" pitchFamily="18" charset="0"/>
                <a:ea typeface="MS PGothic"/>
                <a:cs typeface="Times New Roman" panose="02020603050405020304" pitchFamily="18" charset="0"/>
              </a:rPr>
              <a:t>Dr. Gurpreet Singh</a:t>
            </a:r>
          </a:p>
          <a:p>
            <a:pPr algn="ctr">
              <a:lnSpc>
                <a:spcPct val="100000"/>
              </a:lnSpc>
              <a:spcBef>
                <a:spcPts val="400"/>
              </a:spcBef>
            </a:pPr>
            <a:endParaRPr lang="en-US" sz="12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12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12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1500" spc="-1" dirty="0">
                <a:latin typeface="Times New Roman" panose="02020603050405020304" pitchFamily="18" charset="0"/>
                <a:ea typeface="MS PGothic"/>
                <a:cs typeface="Times New Roman" panose="02020603050405020304" pitchFamily="18" charset="0"/>
              </a:rPr>
              <a:t>Department of </a:t>
            </a:r>
            <a:r>
              <a:rPr lang="en-US" sz="15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1500" b="0" strike="noStrike" spc="-1" dirty="0">
                <a:latin typeface="Times New Roman" panose="02020603050405020304" pitchFamily="18" charset="0"/>
                <a:ea typeface="MS PGothic"/>
                <a:cs typeface="Times New Roman" panose="02020603050405020304" pitchFamily="18" charset="0"/>
              </a:rPr>
              <a:t>Chitkara University, Punjab</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Google Shape;46;p1"/>
          <p:cNvSpPr txBox="1"/>
          <p:nvPr/>
        </p:nvSpPr>
        <p:spPr>
          <a:xfrm>
            <a:off x="502925" y="6414780"/>
            <a:ext cx="2042150" cy="2482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nchor="ctr">
            <a:spAutoFit/>
          </a:bodyPr>
          <a:lstStyle>
            <a:lvl1pPr>
              <a:defRPr sz="1200">
                <a:solidFill>
                  <a:srgbClr val="898989"/>
                </a:solidFill>
                <a:latin typeface="Calibri"/>
                <a:ea typeface="Calibri"/>
                <a:cs typeface="Calibri"/>
                <a:sym typeface="Calibri"/>
              </a:defRPr>
            </a:lvl1pPr>
          </a:lstStyle>
          <a:p>
            <a:r>
              <a:t>22CS026</a:t>
            </a:r>
          </a:p>
        </p:txBody>
      </p:sp>
      <p:sp>
        <p:nvSpPr>
          <p:cNvPr id="42" name="Google Shape;47;p1"/>
          <p:cNvSpPr txBox="1">
            <a:spLocks noGrp="1"/>
          </p:cNvSpPr>
          <p:nvPr>
            <p:ph type="sldNum" sz="quarter" idx="2"/>
          </p:nvPr>
        </p:nvSpPr>
        <p:spPr>
          <a:xfrm>
            <a:off x="8505458" y="6414780"/>
            <a:ext cx="181343" cy="24826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a:t>
            </a:fld>
            <a:endParaRPr/>
          </a:p>
        </p:txBody>
      </p:sp>
      <p:sp>
        <p:nvSpPr>
          <p:cNvPr id="43" name="Google Shape;48;p1"/>
          <p:cNvSpPr txBox="1"/>
          <p:nvPr/>
        </p:nvSpPr>
        <p:spPr>
          <a:xfrm>
            <a:off x="2933604" y="948938"/>
            <a:ext cx="3276792" cy="9173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3099" tIns="33099" rIns="33099" bIns="33099" anchor="ctr">
            <a:spAutoFit/>
          </a:bodyPr>
          <a:lstStyle>
            <a:lvl1pPr algn="ctr">
              <a:defRPr sz="3000" b="1"/>
            </a:lvl1pPr>
          </a:lstStyle>
          <a:p>
            <a:r>
              <a:t>Introduction</a:t>
            </a:r>
          </a:p>
        </p:txBody>
      </p:sp>
      <p:sp>
        <p:nvSpPr>
          <p:cNvPr id="44" name="TextBox 2"/>
          <p:cNvSpPr txBox="1"/>
          <p:nvPr/>
        </p:nvSpPr>
        <p:spPr>
          <a:xfrm>
            <a:off x="504499" y="1938913"/>
            <a:ext cx="4978284" cy="3693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800" b="1"/>
            </a:lvl1pPr>
          </a:lstStyle>
          <a:p>
            <a:r>
              <a:rPr dirty="0"/>
              <a:t>What is a Movie Recommendation System ?</a:t>
            </a:r>
          </a:p>
        </p:txBody>
      </p:sp>
      <p:sp>
        <p:nvSpPr>
          <p:cNvPr id="45" name="TextBox 3"/>
          <p:cNvSpPr txBox="1"/>
          <p:nvPr/>
        </p:nvSpPr>
        <p:spPr>
          <a:xfrm>
            <a:off x="515442" y="2381140"/>
            <a:ext cx="8138161" cy="6463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defTabSz="457200">
              <a:defRPr sz="1200"/>
            </a:pPr>
            <a:r>
              <a:rPr dirty="0"/>
              <a:t>A</a:t>
            </a:r>
            <a:r>
              <a:rPr b="1" dirty="0"/>
              <a:t> movie recommendation system</a:t>
            </a:r>
            <a:r>
              <a:rPr dirty="0"/>
              <a:t> combines two or more recommendation techniques to improve the accuracy and quality of recommendations. There are various types of filtering for example, content-based , collaborative , demographic and many more. A hybrid model is designed to provide the best of both worlds.</a:t>
            </a:r>
          </a:p>
        </p:txBody>
      </p:sp>
      <p:sp>
        <p:nvSpPr>
          <p:cNvPr id="46" name="TextBox 4"/>
          <p:cNvSpPr txBox="1"/>
          <p:nvPr/>
        </p:nvSpPr>
        <p:spPr>
          <a:xfrm>
            <a:off x="480427" y="3223112"/>
            <a:ext cx="2396266" cy="3506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800" b="1"/>
            </a:lvl1pPr>
          </a:lstStyle>
          <a:p>
            <a:r>
              <a:rPr dirty="0"/>
              <a:t>Purpose:</a:t>
            </a:r>
          </a:p>
        </p:txBody>
      </p:sp>
      <p:sp>
        <p:nvSpPr>
          <p:cNvPr id="47" name="TextBox 5"/>
          <p:cNvSpPr txBox="1"/>
          <p:nvPr/>
        </p:nvSpPr>
        <p:spPr>
          <a:xfrm>
            <a:off x="515442" y="3670949"/>
            <a:ext cx="8138161" cy="6463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defTabSz="457200">
              <a:defRPr sz="1200"/>
            </a:lvl1pPr>
          </a:lstStyle>
          <a:p>
            <a:r>
              <a:rPr dirty="0"/>
              <a:t>The goal is to overcome the limitations of individual methods and leverage the strengths of different algorithms. Typically, hybrid systems are used to provide more personalized and effective recommendations by merging different data sources, such as user behavior, content features, and user preferences.</a:t>
            </a:r>
          </a:p>
        </p:txBody>
      </p:sp>
      <p:sp>
        <p:nvSpPr>
          <p:cNvPr id="48" name="TextBox 6"/>
          <p:cNvSpPr txBox="1"/>
          <p:nvPr/>
        </p:nvSpPr>
        <p:spPr>
          <a:xfrm>
            <a:off x="505471" y="4637044"/>
            <a:ext cx="2799680" cy="3506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800" b="1"/>
            </a:lvl1pPr>
          </a:lstStyle>
          <a:p>
            <a:r>
              <a:t>Target  Audience:</a:t>
            </a:r>
          </a:p>
        </p:txBody>
      </p:sp>
      <p:sp>
        <p:nvSpPr>
          <p:cNvPr id="49" name="TextBox 7"/>
          <p:cNvSpPr txBox="1"/>
          <p:nvPr/>
        </p:nvSpPr>
        <p:spPr>
          <a:xfrm>
            <a:off x="525412" y="5156890"/>
            <a:ext cx="8138161" cy="8309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marL="285749" indent="-285749">
              <a:buClr>
                <a:srgbClr val="000000"/>
              </a:buClr>
              <a:buSzPct val="100000"/>
              <a:buFont typeface="Arial"/>
              <a:buChar char="•"/>
              <a:defRPr sz="1200"/>
            </a:pPr>
            <a:r>
              <a:rPr dirty="0"/>
              <a:t>Your movie recommendation system could target frequent users of streaming platforms who seek personalized, diverse, and accurate movie recommendations.</a:t>
            </a:r>
          </a:p>
          <a:p>
            <a:pPr marL="285749" indent="-285749">
              <a:buClr>
                <a:srgbClr val="000000"/>
              </a:buClr>
              <a:buSzPct val="100000"/>
              <a:buFont typeface="Arial"/>
              <a:buChar char="•"/>
              <a:defRPr sz="1200"/>
            </a:pPr>
            <a:r>
              <a:rPr dirty="0"/>
              <a:t>Are target audience could be anyone , any age group but we would specifically like to cater to 16-30 yr old people due to their affinity towards series and movies.</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Google Shape;46;p1"/>
          <p:cNvSpPr txBox="1"/>
          <p:nvPr/>
        </p:nvSpPr>
        <p:spPr>
          <a:xfrm>
            <a:off x="502925" y="6414780"/>
            <a:ext cx="2042150" cy="2482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nchor="ctr">
            <a:spAutoFit/>
          </a:bodyPr>
          <a:lstStyle>
            <a:lvl1pPr>
              <a:defRPr sz="1200">
                <a:solidFill>
                  <a:srgbClr val="898989"/>
                </a:solidFill>
                <a:latin typeface="Calibri"/>
                <a:ea typeface="Calibri"/>
                <a:cs typeface="Calibri"/>
                <a:sym typeface="Calibri"/>
              </a:defRPr>
            </a:lvl1pPr>
          </a:lstStyle>
          <a:p>
            <a:r>
              <a:t>22CS026</a:t>
            </a:r>
          </a:p>
        </p:txBody>
      </p:sp>
      <p:sp>
        <p:nvSpPr>
          <p:cNvPr id="52" name="Google Shape;47;p1"/>
          <p:cNvSpPr txBox="1">
            <a:spLocks noGrp="1"/>
          </p:cNvSpPr>
          <p:nvPr>
            <p:ph type="sldNum" sz="quarter" idx="2"/>
          </p:nvPr>
        </p:nvSpPr>
        <p:spPr>
          <a:xfrm>
            <a:off x="8505458" y="6414780"/>
            <a:ext cx="181343" cy="24826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a:t>
            </a:fld>
            <a:endParaRPr/>
          </a:p>
        </p:txBody>
      </p:sp>
      <p:sp>
        <p:nvSpPr>
          <p:cNvPr id="53" name="Google Shape;48;p1"/>
          <p:cNvSpPr txBox="1"/>
          <p:nvPr/>
        </p:nvSpPr>
        <p:spPr>
          <a:xfrm>
            <a:off x="1672998" y="-1176674"/>
            <a:ext cx="5450433" cy="26445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3099" tIns="33099" rIns="33099" bIns="33099" anchor="ctr">
            <a:spAutoFit/>
          </a:bodyPr>
          <a:lstStyle/>
          <a:p>
            <a:pPr algn="ctr">
              <a:defRPr sz="3000" b="1">
                <a:solidFill>
                  <a:srgbClr val="FF0000"/>
                </a:solidFill>
              </a:defRPr>
            </a:pPr>
            <a:endParaRPr/>
          </a:p>
          <a:p>
            <a:pPr algn="ctr">
              <a:defRPr sz="3000" b="1">
                <a:solidFill>
                  <a:srgbClr val="FF0000"/>
                </a:solidFill>
              </a:defRPr>
            </a:pPr>
            <a:endParaRPr/>
          </a:p>
          <a:p>
            <a:pPr algn="ctr">
              <a:defRPr sz="3000" b="1">
                <a:solidFill>
                  <a:srgbClr val="FF0000"/>
                </a:solidFill>
              </a:defRPr>
            </a:pPr>
            <a:endParaRPr/>
          </a:p>
          <a:p>
            <a:pPr algn="ctr">
              <a:defRPr sz="3000" b="1">
                <a:solidFill>
                  <a:srgbClr val="FF0000"/>
                </a:solidFill>
              </a:defRPr>
            </a:pPr>
            <a:br/>
            <a:endParaRPr/>
          </a:p>
          <a:p>
            <a:pPr algn="ctr">
              <a:defRPr sz="3000" b="1"/>
            </a:pPr>
            <a:r>
              <a:t>Market Competitors</a:t>
            </a:r>
          </a:p>
        </p:txBody>
      </p:sp>
      <p:sp>
        <p:nvSpPr>
          <p:cNvPr id="54" name="TextBox 1"/>
          <p:cNvSpPr txBox="1"/>
          <p:nvPr/>
        </p:nvSpPr>
        <p:spPr>
          <a:xfrm>
            <a:off x="932127" y="1658266"/>
            <a:ext cx="1857374" cy="35066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800" u="sng"/>
            </a:lvl1pPr>
          </a:lstStyle>
          <a:p>
            <a:r>
              <a:t>Key Competitors:</a:t>
            </a:r>
          </a:p>
        </p:txBody>
      </p:sp>
      <p:sp>
        <p:nvSpPr>
          <p:cNvPr id="55" name="TextBox 2"/>
          <p:cNvSpPr txBox="1"/>
          <p:nvPr/>
        </p:nvSpPr>
        <p:spPr>
          <a:xfrm>
            <a:off x="786333" y="2199331"/>
            <a:ext cx="7223761" cy="7087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marL="308610" indent="-308610">
              <a:buClr>
                <a:srgbClr val="000000"/>
              </a:buClr>
              <a:buSzPct val="100000"/>
              <a:buAutoNum type="arabicPeriod"/>
              <a:defRPr sz="2000" b="1"/>
            </a:pPr>
            <a:r>
              <a:rPr sz="1800"/>
              <a:t>Netflix: </a:t>
            </a:r>
            <a:r>
              <a:rPr sz="1400"/>
              <a:t>Both Collaborative Filtering and Deep Learning</a:t>
            </a:r>
            <a:endParaRPr sz="1400" b="0"/>
          </a:p>
          <a:p>
            <a:pPr marL="501315" lvl="1" indent="-120315" defTabSz="457200">
              <a:spcBef>
                <a:spcPts val="1200"/>
              </a:spcBef>
              <a:buSzPct val="100000"/>
              <a:buChar char="•"/>
              <a:defRPr sz="1200"/>
            </a:pPr>
            <a:r>
              <a:t>Netflix started with collaborative filtering but has since incorporated deep learning models to enhance the accuracy and personalisation of its recommendations.</a:t>
            </a:r>
          </a:p>
        </p:txBody>
      </p:sp>
      <p:sp>
        <p:nvSpPr>
          <p:cNvPr id="56" name="TextBox 2"/>
          <p:cNvSpPr txBox="1"/>
          <p:nvPr/>
        </p:nvSpPr>
        <p:spPr>
          <a:xfrm>
            <a:off x="786334" y="3143998"/>
            <a:ext cx="7223760" cy="7087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defRPr sz="1800" b="1"/>
            </a:pPr>
            <a:r>
              <a:t>2.  Amazon Prime Video: </a:t>
            </a:r>
            <a:r>
              <a:rPr sz="1400"/>
              <a:t>Both Collaborative Filtering and Deep Learning</a:t>
            </a:r>
            <a:endParaRPr sz="1400" b="0"/>
          </a:p>
          <a:p>
            <a:pPr marL="501315" lvl="1" indent="-120315" defTabSz="457200">
              <a:spcBef>
                <a:spcPts val="1200"/>
              </a:spcBef>
              <a:buSzPct val="100000"/>
              <a:buChar char="•"/>
              <a:defRPr sz="1200"/>
            </a:pPr>
            <a:r>
              <a:t>Amazon Prime uses collaborative filtering in combination with deep learning techniques, leveraging its AI infrastructure to provide more advanced recommendations.</a:t>
            </a:r>
          </a:p>
        </p:txBody>
      </p:sp>
      <p:sp>
        <p:nvSpPr>
          <p:cNvPr id="57" name="TextBox 2"/>
          <p:cNvSpPr txBox="1"/>
          <p:nvPr/>
        </p:nvSpPr>
        <p:spPr>
          <a:xfrm>
            <a:off x="786334" y="4088665"/>
            <a:ext cx="7223760" cy="7087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defRPr sz="1800" b="1"/>
            </a:pPr>
            <a:r>
              <a:t>3. Disney+: </a:t>
            </a:r>
            <a:r>
              <a:rPr sz="1400"/>
              <a:t>Primarily Collaborative Filtering (with some use of Deep Learning)</a:t>
            </a:r>
            <a:endParaRPr sz="1400" b="0"/>
          </a:p>
          <a:p>
            <a:pPr marL="501315" lvl="1" indent="-120315" defTabSz="457200">
              <a:spcBef>
                <a:spcPts val="1200"/>
              </a:spcBef>
              <a:buSzPct val="100000"/>
              <a:buChar char="•"/>
              <a:defRPr sz="1200"/>
            </a:pPr>
            <a:r>
              <a:t>Disney+ mainly relies on collaborative filtering. However, they are gradually adopting deep learning techniques, though it's not as extensive as Netflix or Amazon Prime.</a:t>
            </a:r>
          </a:p>
        </p:txBody>
      </p:sp>
      <p:sp>
        <p:nvSpPr>
          <p:cNvPr id="58" name="TextBox 2"/>
          <p:cNvSpPr txBox="1"/>
          <p:nvPr/>
        </p:nvSpPr>
        <p:spPr>
          <a:xfrm>
            <a:off x="786334" y="5142270"/>
            <a:ext cx="7223760" cy="7087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defRPr sz="1800" b="1"/>
            </a:pPr>
            <a:r>
              <a:t>4. Hulu: </a:t>
            </a:r>
            <a:r>
              <a:rPr sz="1400"/>
              <a:t>Both Collaborative Filtering and Deep Learning</a:t>
            </a:r>
            <a:endParaRPr sz="1400" b="0"/>
          </a:p>
          <a:p>
            <a:pPr marL="501315" lvl="1" indent="-120315" defTabSz="457200">
              <a:spcBef>
                <a:spcPts val="1200"/>
              </a:spcBef>
              <a:buSzPct val="100000"/>
              <a:buChar char="•"/>
              <a:defRPr sz="1200"/>
            </a:pPr>
            <a:r>
              <a:t>Hulu uses collaborative filtering and is increasingly incorporating deep learning models, especially for dynamic environments like live TV recommendations.</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Google Shape;46;p1"/>
          <p:cNvSpPr txBox="1"/>
          <p:nvPr/>
        </p:nvSpPr>
        <p:spPr>
          <a:xfrm>
            <a:off x="502925" y="6414780"/>
            <a:ext cx="2042150" cy="2482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nchor="ctr">
            <a:spAutoFit/>
          </a:bodyPr>
          <a:lstStyle>
            <a:lvl1pPr>
              <a:defRPr sz="1200">
                <a:solidFill>
                  <a:srgbClr val="898989"/>
                </a:solidFill>
                <a:latin typeface="Calibri"/>
                <a:ea typeface="Calibri"/>
                <a:cs typeface="Calibri"/>
                <a:sym typeface="Calibri"/>
              </a:defRPr>
            </a:lvl1pPr>
          </a:lstStyle>
          <a:p>
            <a:r>
              <a:t>22CS026</a:t>
            </a:r>
          </a:p>
        </p:txBody>
      </p:sp>
      <p:sp>
        <p:nvSpPr>
          <p:cNvPr id="61" name="Google Shape;47;p1"/>
          <p:cNvSpPr txBox="1">
            <a:spLocks noGrp="1"/>
          </p:cNvSpPr>
          <p:nvPr>
            <p:ph type="sldNum" sz="quarter" idx="2"/>
          </p:nvPr>
        </p:nvSpPr>
        <p:spPr>
          <a:xfrm>
            <a:off x="8505458" y="6414780"/>
            <a:ext cx="181343" cy="24826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4</a:t>
            </a:fld>
            <a:endParaRPr/>
          </a:p>
        </p:txBody>
      </p:sp>
      <p:sp>
        <p:nvSpPr>
          <p:cNvPr id="62" name="Google Shape;48;p1"/>
          <p:cNvSpPr txBox="1"/>
          <p:nvPr/>
        </p:nvSpPr>
        <p:spPr>
          <a:xfrm>
            <a:off x="313818" y="3690492"/>
            <a:ext cx="9027351" cy="28723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3099" tIns="33099" rIns="33099" bIns="33099" anchor="ctr">
            <a:spAutoFit/>
          </a:bodyPr>
          <a:lstStyle/>
          <a:p>
            <a:pPr algn="ctr">
              <a:defRPr sz="3200" b="1">
                <a:solidFill>
                  <a:srgbClr val="FF0000"/>
                </a:solidFill>
              </a:defRPr>
            </a:pPr>
            <a:endParaRPr/>
          </a:p>
          <a:p>
            <a:pPr algn="ctr">
              <a:defRPr sz="3200" b="1">
                <a:solidFill>
                  <a:srgbClr val="FF0000"/>
                </a:solidFill>
              </a:defRPr>
            </a:pPr>
            <a:endParaRPr/>
          </a:p>
          <a:p>
            <a:pPr algn="ctr">
              <a:defRPr sz="3200" b="1">
                <a:solidFill>
                  <a:srgbClr val="FF0000"/>
                </a:solidFill>
              </a:defRPr>
            </a:pPr>
            <a:endParaRPr/>
          </a:p>
          <a:p>
            <a:pPr algn="ctr">
              <a:defRPr sz="3200" b="1">
                <a:solidFill>
                  <a:srgbClr val="FF0000"/>
                </a:solidFill>
              </a:defRPr>
            </a:pPr>
            <a:br/>
            <a:endParaRPr/>
          </a:p>
        </p:txBody>
      </p:sp>
      <p:sp>
        <p:nvSpPr>
          <p:cNvPr id="63" name="TextBox 1"/>
          <p:cNvSpPr txBox="1"/>
          <p:nvPr/>
        </p:nvSpPr>
        <p:spPr>
          <a:xfrm>
            <a:off x="2058869" y="1034791"/>
            <a:ext cx="4536057" cy="5107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3000" b="1"/>
            </a:lvl1pPr>
          </a:lstStyle>
          <a:p>
            <a:r>
              <a:t>Competitive Advantages</a:t>
            </a:r>
          </a:p>
        </p:txBody>
      </p:sp>
      <p:sp>
        <p:nvSpPr>
          <p:cNvPr id="64" name="Rectangle 1"/>
          <p:cNvSpPr txBox="1"/>
          <p:nvPr/>
        </p:nvSpPr>
        <p:spPr>
          <a:xfrm>
            <a:off x="534323" y="1328372"/>
            <a:ext cx="7585148" cy="42012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p>
            <a:pPr>
              <a:defRPr sz="1800"/>
            </a:pPr>
            <a:endParaRPr/>
          </a:p>
          <a:p>
            <a:pPr>
              <a:defRPr sz="1800"/>
            </a:pPr>
            <a:endParaRPr/>
          </a:p>
          <a:p>
            <a:pPr marL="240029" indent="-240029">
              <a:buSzPct val="100000"/>
              <a:buFont typeface="Arial"/>
              <a:buChar char="•"/>
              <a:defRPr sz="2000"/>
            </a:pPr>
            <a:r>
              <a:rPr sz="1400" b="1" u="sng"/>
              <a:t>Enhanced Personalisation</a:t>
            </a:r>
            <a:r>
              <a:rPr sz="1600" b="1"/>
              <a:t> -</a:t>
            </a:r>
            <a:r>
              <a:t> </a:t>
            </a:r>
            <a:r>
              <a:rPr sz="1200"/>
              <a:t>By integrating both CF and CBF, your system will offer more </a:t>
            </a:r>
            <a:r>
              <a:rPr sz="1200" b="1"/>
              <a:t>accurate and relevant recommendations</a:t>
            </a:r>
            <a:r>
              <a:rPr sz="1200"/>
              <a:t>. While CF relies on user behaviour (watch history, ratings), CBF focuses on the content’s attributes (genres, directors, actors). This dual approach ensures that users get suggestions that not only match their preferences but also uncover content they might not have found based on behaviour alone.</a:t>
            </a:r>
          </a:p>
          <a:p>
            <a:pPr>
              <a:defRPr sz="2000"/>
            </a:pPr>
            <a:endParaRPr sz="1200"/>
          </a:p>
          <a:p>
            <a:pPr>
              <a:defRPr sz="2000"/>
            </a:pPr>
            <a:endParaRPr sz="1200"/>
          </a:p>
          <a:p>
            <a:pPr marL="342900" indent="-342900">
              <a:buSzPct val="100000"/>
              <a:buFont typeface="Arial"/>
              <a:buChar char="•"/>
            </a:pPr>
            <a:r>
              <a:rPr b="1" u="sng"/>
              <a:t>Better Recommendation</a:t>
            </a:r>
            <a:r>
              <a:rPr sz="1600" b="1"/>
              <a:t> -</a:t>
            </a:r>
            <a:r>
              <a:t> </a:t>
            </a:r>
            <a:r>
              <a:rPr sz="1200"/>
              <a:t>By integrating CBF(collaborative filtering), you can still recommend content based on the attributes of the few movies or genres they've interacted with. This helps </a:t>
            </a:r>
            <a:r>
              <a:rPr sz="1200" b="1"/>
              <a:t>mitigate the cold start problem</a:t>
            </a:r>
            <a:r>
              <a:rPr sz="1200"/>
              <a:t> and provides meaningful recommendations to new users from the beginning, improving </a:t>
            </a:r>
            <a:r>
              <a:rPr sz="1200" b="1"/>
              <a:t>user retention</a:t>
            </a:r>
            <a:r>
              <a:rPr sz="1200"/>
              <a:t> early on.</a:t>
            </a:r>
          </a:p>
          <a:p>
            <a:endParaRPr sz="1200"/>
          </a:p>
          <a:p>
            <a:endParaRPr sz="1200"/>
          </a:p>
          <a:p>
            <a:pPr marL="240029" indent="-240029">
              <a:buSzPct val="100000"/>
              <a:buFont typeface="Arial"/>
              <a:buChar char="•"/>
              <a:defRPr sz="2000"/>
            </a:pPr>
            <a:r>
              <a:rPr sz="1400" b="1" u="sng"/>
              <a:t>Content Diversity</a:t>
            </a:r>
            <a:r>
              <a:t> - </a:t>
            </a:r>
            <a:r>
              <a:rPr sz="1200"/>
              <a:t>CF often leads to a "popularity bias" where well-known content is over-recommended because it has more user data. By incorporating CBF, your system can introduce </a:t>
            </a:r>
            <a:r>
              <a:rPr sz="1200" b="1"/>
              <a:t>niche, indie, or lesser-known content</a:t>
            </a:r>
            <a:r>
              <a:rPr sz="1200"/>
              <a:t> that matches the specific attributes of a user’s preferences (e.g., recommending a lesser-known film by the same director or in a similar genre)</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Google Shape;46;p1"/>
          <p:cNvSpPr txBox="1"/>
          <p:nvPr/>
        </p:nvSpPr>
        <p:spPr>
          <a:xfrm>
            <a:off x="502925" y="6414780"/>
            <a:ext cx="2042150" cy="2482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nchor="ctr">
            <a:spAutoFit/>
          </a:bodyPr>
          <a:lstStyle>
            <a:lvl1pPr>
              <a:defRPr sz="1200">
                <a:solidFill>
                  <a:srgbClr val="898989"/>
                </a:solidFill>
                <a:latin typeface="Calibri"/>
                <a:ea typeface="Calibri"/>
                <a:cs typeface="Calibri"/>
                <a:sym typeface="Calibri"/>
              </a:defRPr>
            </a:lvl1pPr>
          </a:lstStyle>
          <a:p>
            <a:r>
              <a:t>22CS026</a:t>
            </a:r>
          </a:p>
        </p:txBody>
      </p:sp>
      <p:sp>
        <p:nvSpPr>
          <p:cNvPr id="67" name="Google Shape;47;p1"/>
          <p:cNvSpPr txBox="1">
            <a:spLocks noGrp="1"/>
          </p:cNvSpPr>
          <p:nvPr>
            <p:ph type="sldNum" sz="quarter" idx="2"/>
          </p:nvPr>
        </p:nvSpPr>
        <p:spPr>
          <a:xfrm>
            <a:off x="8505458" y="6414780"/>
            <a:ext cx="181343" cy="24826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5</a:t>
            </a:fld>
            <a:endParaRPr/>
          </a:p>
        </p:txBody>
      </p:sp>
      <p:sp>
        <p:nvSpPr>
          <p:cNvPr id="68" name="TextBox 1"/>
          <p:cNvSpPr txBox="1"/>
          <p:nvPr/>
        </p:nvSpPr>
        <p:spPr>
          <a:xfrm>
            <a:off x="3725838" y="1003091"/>
            <a:ext cx="1692323" cy="510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3000" b="1"/>
            </a:lvl1pPr>
          </a:lstStyle>
          <a:p>
            <a:r>
              <a:t>Features</a:t>
            </a:r>
          </a:p>
        </p:txBody>
      </p:sp>
      <p:sp>
        <p:nvSpPr>
          <p:cNvPr id="69" name="Rectangle 1"/>
          <p:cNvSpPr txBox="1"/>
          <p:nvPr/>
        </p:nvSpPr>
        <p:spPr>
          <a:xfrm>
            <a:off x="499785" y="1600710"/>
            <a:ext cx="7585148" cy="56057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p>
            <a:pPr defTabSz="457200">
              <a:spcBef>
                <a:spcPts val="1400"/>
              </a:spcBef>
              <a:defRPr b="1"/>
            </a:pPr>
            <a:r>
              <a:t>1.  Personalised Movie Recommendations :</a:t>
            </a:r>
          </a:p>
          <a:p>
            <a:pPr marL="457200" indent="-317500" defTabSz="457200">
              <a:spcBef>
                <a:spcPts val="1200"/>
              </a:spcBef>
              <a:buSzPct val="100000"/>
              <a:buFont typeface="Times Roman"/>
              <a:buChar char="•"/>
              <a:defRPr sz="1200"/>
            </a:pPr>
            <a:r>
              <a:t>Users will receive personalised movie recommendations based on both explicit signals (e.g., ratings) and implicit signals (e.g., movie genres or past interactions).</a:t>
            </a:r>
          </a:p>
          <a:p>
            <a:pPr defTabSz="457200">
              <a:spcBef>
                <a:spcPts val="1200"/>
              </a:spcBef>
              <a:defRPr sz="1200"/>
            </a:pPr>
            <a:endParaRPr/>
          </a:p>
          <a:p>
            <a:pPr defTabSz="457200">
              <a:spcBef>
                <a:spcPts val="1400"/>
              </a:spcBef>
              <a:defRPr b="1"/>
            </a:pPr>
            <a:r>
              <a:t>2.  User Profile Setup and Customisation :</a:t>
            </a:r>
          </a:p>
          <a:p>
            <a:pPr marL="457200" indent="-317500" defTabSz="457200">
              <a:spcBef>
                <a:spcPts val="1200"/>
              </a:spcBef>
              <a:buSzPct val="100000"/>
              <a:buFont typeface="Times Roman"/>
              <a:buChar char="•"/>
              <a:defRPr sz="1200"/>
            </a:pPr>
            <a:r>
              <a:t>Users can create and customise profiles where they specify their favourite genres, directors, or actors. This explicit information will help fine-tune the recommendations based on their preferences.</a:t>
            </a:r>
          </a:p>
          <a:p>
            <a:pPr defTabSz="457200">
              <a:spcBef>
                <a:spcPts val="1200"/>
              </a:spcBef>
              <a:defRPr sz="1200"/>
            </a:pPr>
            <a:endParaRPr/>
          </a:p>
          <a:p>
            <a:pPr defTabSz="457200">
              <a:spcBef>
                <a:spcPts val="1400"/>
              </a:spcBef>
              <a:defRPr b="1"/>
            </a:pPr>
            <a:r>
              <a:t>3.  Interactive Movie Ratings and Feedback :</a:t>
            </a:r>
          </a:p>
          <a:p>
            <a:pPr marL="457200" indent="-317500" defTabSz="457200">
              <a:spcBef>
                <a:spcPts val="1200"/>
              </a:spcBef>
              <a:buSzPct val="100000"/>
              <a:buFont typeface="Times Roman"/>
              <a:buChar char="•"/>
              <a:defRPr sz="1200"/>
            </a:pPr>
            <a:r>
              <a:t>Users can rate movies they have watched and provide feedback. These ratings will directly influence the collaborative filtering model by adjusting recommendations based on user interactions.</a:t>
            </a:r>
          </a:p>
          <a:p>
            <a:pPr defTabSz="457200">
              <a:spcBef>
                <a:spcPts val="1200"/>
              </a:spcBef>
              <a:defRPr sz="1200"/>
            </a:pPr>
            <a:endParaRPr/>
          </a:p>
          <a:p>
            <a:pPr defTabSz="457200">
              <a:spcBef>
                <a:spcPts val="1400"/>
              </a:spcBef>
              <a:defRPr b="1"/>
            </a:pPr>
            <a:r>
              <a:t>4.  Explainable Movie Recommendations :</a:t>
            </a:r>
          </a:p>
          <a:p>
            <a:pPr marL="457200" indent="-317500" defTabSz="457200">
              <a:spcBef>
                <a:spcPts val="1200"/>
              </a:spcBef>
              <a:buSzPct val="100000"/>
              <a:buFont typeface="Times Roman"/>
              <a:buChar char="•"/>
              <a:defRPr sz="1200"/>
            </a:pPr>
            <a:r>
              <a:t>The system will provide explanations for why certain movies are recommended (e.g., “Because you liked this genre” or “Similar to a movie you rated highly”).</a:t>
            </a:r>
          </a:p>
          <a:p>
            <a:pPr defTabSz="457200">
              <a:spcBef>
                <a:spcPts val="1200"/>
              </a:spcBef>
              <a:defRPr sz="1200"/>
            </a:pPr>
            <a:endParaRPr/>
          </a:p>
          <a:p>
            <a:pPr defTabSz="457200">
              <a:spcBef>
                <a:spcPts val="1400"/>
              </a:spcBef>
              <a:defRPr b="1">
                <a:latin typeface="Times Roman"/>
                <a:ea typeface="Times Roman"/>
                <a:cs typeface="Times Roman"/>
                <a:sym typeface="Times Roman"/>
              </a:defRPr>
            </a:pPr>
            <a:endParaRP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Google Shape;46;p1"/>
          <p:cNvSpPr txBox="1"/>
          <p:nvPr/>
        </p:nvSpPr>
        <p:spPr>
          <a:xfrm>
            <a:off x="502925" y="6414780"/>
            <a:ext cx="2042150" cy="2482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nchor="ctr">
            <a:spAutoFit/>
          </a:bodyPr>
          <a:lstStyle>
            <a:lvl1pPr>
              <a:defRPr sz="1200">
                <a:solidFill>
                  <a:srgbClr val="898989"/>
                </a:solidFill>
                <a:latin typeface="Calibri"/>
                <a:ea typeface="Calibri"/>
                <a:cs typeface="Calibri"/>
                <a:sym typeface="Calibri"/>
              </a:defRPr>
            </a:lvl1pPr>
          </a:lstStyle>
          <a:p>
            <a:r>
              <a:t>22CS026</a:t>
            </a:r>
          </a:p>
        </p:txBody>
      </p:sp>
      <p:sp>
        <p:nvSpPr>
          <p:cNvPr id="72" name="Google Shape;47;p1"/>
          <p:cNvSpPr txBox="1">
            <a:spLocks noGrp="1"/>
          </p:cNvSpPr>
          <p:nvPr>
            <p:ph type="sldNum" sz="quarter" idx="2"/>
          </p:nvPr>
        </p:nvSpPr>
        <p:spPr>
          <a:xfrm>
            <a:off x="8505458" y="6414780"/>
            <a:ext cx="181343" cy="24826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6</a:t>
            </a:fld>
            <a:endParaRPr/>
          </a:p>
        </p:txBody>
      </p:sp>
      <p:sp>
        <p:nvSpPr>
          <p:cNvPr id="73" name="Google Shape;48;p1"/>
          <p:cNvSpPr txBox="1"/>
          <p:nvPr/>
        </p:nvSpPr>
        <p:spPr>
          <a:xfrm>
            <a:off x="58325" y="2338162"/>
            <a:ext cx="9027350" cy="28723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3099" tIns="33099" rIns="33099" bIns="33099" anchor="ctr">
            <a:spAutoFit/>
          </a:bodyPr>
          <a:lstStyle/>
          <a:p>
            <a:pPr algn="ctr">
              <a:defRPr sz="3200" b="1">
                <a:solidFill>
                  <a:srgbClr val="FF0000"/>
                </a:solidFill>
              </a:defRPr>
            </a:pPr>
            <a:endParaRPr/>
          </a:p>
          <a:p>
            <a:pPr algn="ctr">
              <a:defRPr sz="3200" b="1">
                <a:solidFill>
                  <a:srgbClr val="FF0000"/>
                </a:solidFill>
              </a:defRPr>
            </a:pPr>
            <a:endParaRPr/>
          </a:p>
          <a:p>
            <a:pPr algn="ctr">
              <a:defRPr sz="3200" b="1">
                <a:solidFill>
                  <a:srgbClr val="FF0000"/>
                </a:solidFill>
              </a:defRPr>
            </a:pPr>
            <a:endParaRPr/>
          </a:p>
          <a:p>
            <a:pPr algn="ctr">
              <a:defRPr sz="3200" b="1">
                <a:solidFill>
                  <a:srgbClr val="FF0000"/>
                </a:solidFill>
              </a:defRPr>
            </a:pPr>
            <a:br/>
            <a:endParaRPr/>
          </a:p>
        </p:txBody>
      </p:sp>
      <p:sp>
        <p:nvSpPr>
          <p:cNvPr id="74" name="TextBox 1"/>
          <p:cNvSpPr txBox="1"/>
          <p:nvPr/>
        </p:nvSpPr>
        <p:spPr>
          <a:xfrm>
            <a:off x="2814359" y="1051421"/>
            <a:ext cx="3660761" cy="510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3000" b="1"/>
            </a:lvl1pPr>
          </a:lstStyle>
          <a:p>
            <a:r>
              <a:t>Upcoming Features</a:t>
            </a:r>
          </a:p>
        </p:txBody>
      </p:sp>
      <p:sp>
        <p:nvSpPr>
          <p:cNvPr id="75" name="Rectangle 1"/>
          <p:cNvSpPr txBox="1"/>
          <p:nvPr/>
        </p:nvSpPr>
        <p:spPr>
          <a:xfrm>
            <a:off x="534323" y="1283608"/>
            <a:ext cx="7585148" cy="365284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p>
            <a:pPr defTabSz="457200">
              <a:spcBef>
                <a:spcPts val="1200"/>
              </a:spcBef>
              <a:defRPr sz="1200">
                <a:latin typeface="Times Roman"/>
                <a:ea typeface="Times Roman"/>
                <a:cs typeface="Times Roman"/>
                <a:sym typeface="Times Roman"/>
              </a:defRPr>
            </a:pPr>
            <a:endParaRPr/>
          </a:p>
          <a:p>
            <a:pPr defTabSz="457200">
              <a:spcBef>
                <a:spcPts val="1200"/>
              </a:spcBef>
              <a:defRPr sz="1200">
                <a:latin typeface="Times Roman"/>
                <a:ea typeface="Times Roman"/>
                <a:cs typeface="Times Roman"/>
                <a:sym typeface="Times Roman"/>
              </a:defRPr>
            </a:pPr>
            <a:endParaRPr/>
          </a:p>
          <a:p>
            <a:pPr defTabSz="457200">
              <a:spcBef>
                <a:spcPts val="1400"/>
              </a:spcBef>
              <a:defRPr b="1"/>
            </a:pPr>
            <a:r>
              <a:t>1. Content-Based Filtering for New Users (Cold Start Solution) :</a:t>
            </a:r>
          </a:p>
          <a:p>
            <a:pPr marL="457200" indent="-317500" defTabSz="457200">
              <a:spcBef>
                <a:spcPts val="1200"/>
              </a:spcBef>
              <a:buSzPct val="100000"/>
              <a:buFont typeface="Times Roman"/>
              <a:buChar char="•"/>
              <a:defRPr sz="1200"/>
            </a:pPr>
            <a:r>
              <a:t>New users without much history can receive recommendations based on movie attributes like genre, actors, or directors. This ensures meaningful recommendations even in the absence of past interaction data.</a:t>
            </a:r>
          </a:p>
          <a:p>
            <a:pPr defTabSz="457200">
              <a:spcBef>
                <a:spcPts val="1200"/>
              </a:spcBef>
              <a:defRPr sz="1200"/>
            </a:pPr>
            <a:endParaRPr/>
          </a:p>
          <a:p>
            <a:pPr defTabSz="457200">
              <a:spcBef>
                <a:spcPts val="1400"/>
              </a:spcBef>
              <a:defRPr b="1"/>
            </a:pPr>
            <a:r>
              <a:t>2. Movie Discovery through Similarity : </a:t>
            </a:r>
          </a:p>
          <a:p>
            <a:pPr marL="457200" indent="-317500" defTabSz="457200">
              <a:spcBef>
                <a:spcPts val="1200"/>
              </a:spcBef>
              <a:buSzPct val="100000"/>
              <a:buFont typeface="Times Roman"/>
              <a:buChar char="•"/>
              <a:defRPr sz="1200"/>
            </a:pPr>
            <a:r>
              <a:t>Users can click on a movie they liked and receive recommendations for </a:t>
            </a:r>
            <a:r>
              <a:rPr b="1"/>
              <a:t>similar movies</a:t>
            </a:r>
            <a:r>
              <a:t> based on the hybrid model’s understanding of genres, directors, or other users with similar tastes.</a:t>
            </a:r>
          </a:p>
          <a:p>
            <a:pPr defTabSz="457200">
              <a:spcBef>
                <a:spcPts val="1200"/>
              </a:spcBef>
              <a:defRPr sz="1200">
                <a:latin typeface="Times Roman"/>
                <a:ea typeface="Times Roman"/>
                <a:cs typeface="Times Roman"/>
                <a:sym typeface="Times Roman"/>
              </a:defRPr>
            </a:pPr>
            <a:endParaRP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Google Shape;46;p1"/>
          <p:cNvSpPr txBox="1"/>
          <p:nvPr/>
        </p:nvSpPr>
        <p:spPr>
          <a:xfrm>
            <a:off x="502925" y="6414780"/>
            <a:ext cx="2042150" cy="2482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nchor="ctr">
            <a:spAutoFit/>
          </a:bodyPr>
          <a:lstStyle>
            <a:lvl1pPr>
              <a:defRPr sz="1200">
                <a:solidFill>
                  <a:srgbClr val="898989"/>
                </a:solidFill>
                <a:latin typeface="Calibri"/>
                <a:ea typeface="Calibri"/>
                <a:cs typeface="Calibri"/>
                <a:sym typeface="Calibri"/>
              </a:defRPr>
            </a:lvl1pPr>
          </a:lstStyle>
          <a:p>
            <a:r>
              <a:t>22CS026</a:t>
            </a:r>
          </a:p>
        </p:txBody>
      </p:sp>
      <p:sp>
        <p:nvSpPr>
          <p:cNvPr id="78" name="Google Shape;47;p1"/>
          <p:cNvSpPr txBox="1">
            <a:spLocks noGrp="1"/>
          </p:cNvSpPr>
          <p:nvPr>
            <p:ph type="sldNum" sz="quarter" idx="2"/>
          </p:nvPr>
        </p:nvSpPr>
        <p:spPr>
          <a:xfrm>
            <a:off x="8505458" y="6414780"/>
            <a:ext cx="181343" cy="24826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7</a:t>
            </a:fld>
            <a:endParaRPr/>
          </a:p>
        </p:txBody>
      </p:sp>
      <p:sp>
        <p:nvSpPr>
          <p:cNvPr id="79" name="Google Shape;48;p1"/>
          <p:cNvSpPr txBox="1"/>
          <p:nvPr/>
        </p:nvSpPr>
        <p:spPr>
          <a:xfrm>
            <a:off x="58325" y="2338162"/>
            <a:ext cx="9027350" cy="28723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3099" tIns="33099" rIns="33099" bIns="33099" anchor="ctr">
            <a:spAutoFit/>
          </a:bodyPr>
          <a:lstStyle/>
          <a:p>
            <a:pPr algn="ctr">
              <a:defRPr sz="3200" b="1">
                <a:solidFill>
                  <a:srgbClr val="FF0000"/>
                </a:solidFill>
              </a:defRPr>
            </a:pPr>
            <a:endParaRPr/>
          </a:p>
          <a:p>
            <a:pPr algn="ctr">
              <a:defRPr sz="3200" b="1">
                <a:solidFill>
                  <a:srgbClr val="FF0000"/>
                </a:solidFill>
              </a:defRPr>
            </a:pPr>
            <a:endParaRPr/>
          </a:p>
          <a:p>
            <a:pPr algn="ctr">
              <a:defRPr sz="3200" b="1">
                <a:solidFill>
                  <a:srgbClr val="FF0000"/>
                </a:solidFill>
              </a:defRPr>
            </a:pPr>
            <a:endParaRPr/>
          </a:p>
          <a:p>
            <a:pPr algn="ctr">
              <a:defRPr sz="3200" b="1">
                <a:solidFill>
                  <a:srgbClr val="FF0000"/>
                </a:solidFill>
              </a:defRPr>
            </a:pPr>
            <a:br/>
            <a:endParaRPr/>
          </a:p>
        </p:txBody>
      </p:sp>
      <p:sp>
        <p:nvSpPr>
          <p:cNvPr id="80" name="TextBox 3"/>
          <p:cNvSpPr txBox="1"/>
          <p:nvPr/>
        </p:nvSpPr>
        <p:spPr>
          <a:xfrm>
            <a:off x="439420" y="1180469"/>
            <a:ext cx="7990242" cy="495520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defRPr sz="2800" b="1"/>
            </a:pPr>
            <a:r>
              <a:rPr dirty="0"/>
              <a:t>                         </a:t>
            </a:r>
            <a:r>
              <a:rPr sz="3000" dirty="0"/>
              <a:t>Conclusion</a:t>
            </a:r>
          </a:p>
          <a:p>
            <a:pPr>
              <a:defRPr sz="2800" b="1"/>
            </a:pPr>
            <a:endParaRPr sz="3000" dirty="0"/>
          </a:p>
          <a:p>
            <a:pPr>
              <a:defRPr sz="2000" b="1"/>
            </a:pPr>
            <a:r>
              <a:rPr dirty="0"/>
              <a:t>Summary</a:t>
            </a:r>
            <a:r>
              <a:rPr b="0" dirty="0"/>
              <a:t>:</a:t>
            </a:r>
          </a:p>
          <a:p>
            <a:pPr>
              <a:defRPr sz="1800"/>
            </a:pPr>
            <a:endParaRPr b="0" dirty="0"/>
          </a:p>
          <a:p>
            <a:pPr defTabSz="457200">
              <a:spcBef>
                <a:spcPts val="1200"/>
              </a:spcBef>
            </a:pPr>
            <a:r>
              <a:rPr lang="en-IN" b="1" dirty="0" err="1"/>
              <a:t>MoviFy</a:t>
            </a:r>
            <a:r>
              <a:rPr b="1" dirty="0"/>
              <a:t> </a:t>
            </a:r>
            <a:r>
              <a:rPr dirty="0"/>
              <a:t>focuses on building a </a:t>
            </a:r>
            <a:r>
              <a:rPr b="1" dirty="0"/>
              <a:t>hybrid movie recommendation system</a:t>
            </a:r>
            <a:r>
              <a:rPr dirty="0"/>
              <a:t> using a combination of </a:t>
            </a:r>
            <a:r>
              <a:rPr b="1" dirty="0"/>
              <a:t>deep learning</a:t>
            </a:r>
            <a:r>
              <a:rPr dirty="0"/>
              <a:t> and </a:t>
            </a:r>
            <a:r>
              <a:rPr b="1" dirty="0"/>
              <a:t>traditional collaborative filtering techniques</a:t>
            </a:r>
            <a:r>
              <a:rPr dirty="0"/>
              <a:t>. </a:t>
            </a:r>
          </a:p>
          <a:p>
            <a:pPr defTabSz="457200">
              <a:spcBef>
                <a:spcPts val="1200"/>
              </a:spcBef>
            </a:pPr>
            <a:r>
              <a:rPr dirty="0"/>
              <a:t>By combining </a:t>
            </a:r>
            <a:r>
              <a:rPr b="1" dirty="0"/>
              <a:t>deep learning</a:t>
            </a:r>
            <a:r>
              <a:rPr dirty="0"/>
              <a:t> , </a:t>
            </a:r>
            <a:r>
              <a:rPr b="1" dirty="0"/>
              <a:t>collaborative filtering and content-based filtering</a:t>
            </a:r>
            <a:r>
              <a:rPr dirty="0"/>
              <a:t>, our system can deliver more accurate, flexible, and scalable recommendations, offering a richer and more personalized user experience compared to traditional systems. </a:t>
            </a:r>
          </a:p>
          <a:p>
            <a:pPr defTabSz="457200">
              <a:spcBef>
                <a:spcPts val="1200"/>
              </a:spcBef>
            </a:pPr>
            <a:r>
              <a:rPr dirty="0"/>
              <a:t>Additionally, the hybrid model addresses challenges like the cold start problem and popularity bias, allowing for greater discovery of diverse content.</a:t>
            </a:r>
          </a:p>
          <a:p>
            <a:pPr defTabSz="457200">
              <a:spcBef>
                <a:spcPts val="1200"/>
              </a:spcBef>
            </a:pPr>
            <a:r>
              <a:rPr dirty="0"/>
              <a:t>This comprehensive system promises to enhance movie discovery and user engagement while providing flexibility to handle both new and experienced users.</a:t>
            </a:r>
          </a:p>
          <a:p>
            <a:pPr defTabSz="457200">
              <a:spcBef>
                <a:spcPts val="1200"/>
              </a:spcBef>
            </a:pPr>
            <a:endParaRPr dirty="0"/>
          </a:p>
          <a:p>
            <a:pPr lvl="1" indent="457200"/>
            <a:endParaRPr dirty="0"/>
          </a:p>
          <a:p>
            <a:pPr lvl="1" indent="457200"/>
            <a:endParaRPr dirty="0"/>
          </a:p>
        </p:txBody>
      </p:sp>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Arial"/>
        <a:ea typeface="Arial"/>
        <a:cs typeface="Arial"/>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Arial"/>
        <a:ea typeface="Arial"/>
        <a:cs typeface="Arial"/>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TotalTime>
  <Words>908</Words>
  <Application>Microsoft Office PowerPoint</Application>
  <PresentationFormat>On-screen Show (4:3)</PresentationFormat>
  <Paragraphs>107</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Times New Roman</vt:lpstr>
      <vt:lpstr>Times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Parag .</cp:lastModifiedBy>
  <cp:revision>5</cp:revision>
  <dcterms:modified xsi:type="dcterms:W3CDTF">2025-12-11T04:04:32Z</dcterms:modified>
</cp:coreProperties>
</file>